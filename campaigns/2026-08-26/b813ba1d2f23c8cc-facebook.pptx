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ZONE_ground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ZONE_band"/>
          <p:cNvSpPr/>
          <p:nvPr/>
        </p:nvSpPr>
        <p:spPr>
          <a:xfrm>
            <a:off x="0" y="0"/>
            <a:ext cx="10287000" cy="2496312"/>
          </a:xfrm>
          <a:prstGeom prst="rect">
            <a:avLst/>
          </a:prstGeom>
          <a:solidFill>
            <a:srgbClr val="241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ZONE_cta_block"/>
          <p:cNvSpPr/>
          <p:nvPr/>
        </p:nvSpPr>
        <p:spPr>
          <a:xfrm>
            <a:off x="1234439" y="7804912"/>
            <a:ext cx="7818119" cy="752094"/>
          </a:xfrm>
          <a:prstGeom prst="roundRect">
            <a:avLst/>
          </a:prstGeom>
          <a:solidFill>
            <a:srgbClr val="241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ZONE_headline"/>
          <p:cNvSpPr txBox="1"/>
          <p:nvPr/>
        </p:nvSpPr>
        <p:spPr>
          <a:xfrm>
            <a:off x="1234439" y="617219"/>
            <a:ext cx="7818119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20" b="1">
                <a:solidFill>
                  <a:srgbClr val="FFFFFF"/>
                </a:solidFill>
                <a:latin typeface="Montserrat"/>
              </a:rPr>
              <a:t>Refresh Your Floors This</a:t>
            </a:r>
          </a:p>
          <a:p>
            <a:pPr algn="l"/>
            <a:r>
              <a:rPr sz="4320" b="1">
                <a:solidFill>
                  <a:srgbClr val="FFFFFF"/>
                </a:solidFill>
                <a:latin typeface="Montserrat"/>
              </a:rPr>
              <a:t>Fall</a:t>
            </a:r>
          </a:p>
        </p:txBody>
      </p:sp>
      <p:sp>
        <p:nvSpPr>
          <p:cNvPr id="6" name="ZONE_fineprint"/>
          <p:cNvSpPr txBox="1"/>
          <p:nvPr/>
        </p:nvSpPr>
        <p:spPr>
          <a:xfrm>
            <a:off x="1234439" y="8865616"/>
            <a:ext cx="7818119" cy="186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" b="0">
                <a:solidFill>
                  <a:srgbClr val="63666A"/>
                </a:solidFill>
                <a:latin typeface="Montserrat"/>
              </a:rPr>
              <a:t>Nufloors Langley | Langley, BC | Ends 2026-11-30</a:t>
            </a:r>
          </a:p>
        </p:txBody>
      </p:sp>
      <p:sp>
        <p:nvSpPr>
          <p:cNvPr id="7" name="ZONE_cta"/>
          <p:cNvSpPr txBox="1"/>
          <p:nvPr/>
        </p:nvSpPr>
        <p:spPr>
          <a:xfrm>
            <a:off x="1234439" y="7804912"/>
            <a:ext cx="7818119" cy="7520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80" b="1">
                <a:solidFill>
                  <a:srgbClr val="FFFFFF"/>
                </a:solidFill>
                <a:latin typeface="Montserrat"/>
              </a:rPr>
              <a:t>Stop by Nufloors Langley and find your new floor.</a:t>
            </a:r>
          </a:p>
        </p:txBody>
      </p:sp>
      <p:sp>
        <p:nvSpPr>
          <p:cNvPr id="8" name="ZONE_subheadline"/>
          <p:cNvSpPr txBox="1"/>
          <p:nvPr/>
        </p:nvSpPr>
        <p:spPr>
          <a:xfrm>
            <a:off x="1234439" y="4162742"/>
            <a:ext cx="7818119" cy="607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80" b="0">
                <a:solidFill>
                  <a:srgbClr val="24135F"/>
                </a:solidFill>
                <a:latin typeface="Montserrat"/>
              </a:rPr>
              <a:t>Bring warmth, style, and lasting comfort to the rooms you</a:t>
            </a:r>
          </a:p>
          <a:p>
            <a:pPr algn="l"/>
            <a:r>
              <a:rPr sz="2080" b="0">
                <a:solidFill>
                  <a:srgbClr val="24135F"/>
                </a:solidFill>
                <a:latin typeface="Montserrat"/>
              </a:rPr>
              <a:t>use every day.</a:t>
            </a:r>
          </a:p>
        </p:txBody>
      </p:sp>
      <p:sp>
        <p:nvSpPr>
          <p:cNvPr id="9" name="ZONE_product_0_name"/>
          <p:cNvSpPr txBox="1"/>
          <p:nvPr/>
        </p:nvSpPr>
        <p:spPr>
          <a:xfrm>
            <a:off x="1234439" y="5233225"/>
            <a:ext cx="484723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60" b="1">
                <a:solidFill>
                  <a:srgbClr val="24135F"/>
                </a:solidFill>
                <a:latin typeface="Montserrat"/>
              </a:rPr>
              <a:t>Trailwood</a:t>
            </a:r>
          </a:p>
        </p:txBody>
      </p:sp>
      <p:sp>
        <p:nvSpPr>
          <p:cNvPr id="10" name="ZONE_product_0_price"/>
          <p:cNvSpPr txBox="1"/>
          <p:nvPr/>
        </p:nvSpPr>
        <p:spPr>
          <a:xfrm>
            <a:off x="6238036" y="5233225"/>
            <a:ext cx="2814523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560" b="1">
                <a:solidFill>
                  <a:srgbClr val="24135F"/>
                </a:solidFill>
                <a:latin typeface="Montserrat"/>
              </a:rPr>
              <a:t>$3.69/sq. ft.</a:t>
            </a:r>
          </a:p>
        </p:txBody>
      </p:sp>
      <p:sp>
        <p:nvSpPr>
          <p:cNvPr id="11" name="ZONE_product_1_name"/>
          <p:cNvSpPr txBox="1"/>
          <p:nvPr/>
        </p:nvSpPr>
        <p:spPr>
          <a:xfrm>
            <a:off x="1234439" y="5672137"/>
            <a:ext cx="484723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60" b="1">
                <a:solidFill>
                  <a:srgbClr val="24135F"/>
                </a:solidFill>
                <a:latin typeface="Montserrat"/>
              </a:rPr>
              <a:t>Colossus</a:t>
            </a:r>
          </a:p>
        </p:txBody>
      </p:sp>
      <p:sp>
        <p:nvSpPr>
          <p:cNvPr id="12" name="ZONE_product_1_price"/>
          <p:cNvSpPr txBox="1"/>
          <p:nvPr/>
        </p:nvSpPr>
        <p:spPr>
          <a:xfrm>
            <a:off x="6238036" y="5672137"/>
            <a:ext cx="2814523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560" b="1">
                <a:solidFill>
                  <a:srgbClr val="24135F"/>
                </a:solidFill>
                <a:latin typeface="Montserrat"/>
              </a:rPr>
              <a:t>$4.49/sq. ft.</a:t>
            </a:r>
          </a:p>
        </p:txBody>
      </p:sp>
      <p:sp>
        <p:nvSpPr>
          <p:cNvPr id="13" name="ZONE_product_2_name"/>
          <p:cNvSpPr txBox="1"/>
          <p:nvPr/>
        </p:nvSpPr>
        <p:spPr>
          <a:xfrm>
            <a:off x="1234439" y="6111049"/>
            <a:ext cx="484723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60" b="1">
                <a:solidFill>
                  <a:srgbClr val="24135F"/>
                </a:solidFill>
                <a:latin typeface="Montserrat"/>
              </a:rPr>
              <a:t>Provincial Plank</a:t>
            </a:r>
          </a:p>
        </p:txBody>
      </p:sp>
      <p:sp>
        <p:nvSpPr>
          <p:cNvPr id="14" name="ZONE_product_2_price"/>
          <p:cNvSpPr txBox="1"/>
          <p:nvPr/>
        </p:nvSpPr>
        <p:spPr>
          <a:xfrm>
            <a:off x="6238036" y="6111049"/>
            <a:ext cx="2814523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560" b="1">
                <a:solidFill>
                  <a:srgbClr val="24135F"/>
                </a:solidFill>
                <a:latin typeface="Montserrat"/>
              </a:rPr>
              <a:t>$4.49/sq. ft.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
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ONE_ground"/>
          <p:cNvSpPr/>
          <p:nvPr/>
        </p:nvSpPr>
        <p:spPr>
          <a:xfrm>
            <a:off x="0" y="0"/>
            <a:ext cx="11430000" cy="857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ONE_band"/>
          <p:cNvSpPr/>
          <p:nvPr/>
        </p:nvSpPr>
        <p:spPr>
          <a:xfrm>
            <a:off x="0" y="0"/>
            <a:ext cx="11430000" cy="1554480"/>
          </a:xfrm>
          <a:prstGeom prst="rect">
            <a:avLst/>
          </a:prstGeom>
          <a:solidFill>
            <a:srgbClr val="24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ZONE_cta_block"/>
          <p:cNvSpPr/>
          <p:nvPr/>
        </p:nvSpPr>
        <p:spPr>
          <a:xfrm>
            <a:off x="1371600" y="6467580"/>
            <a:ext cx="8686800" cy="663257"/>
          </a:xfrm>
          <a:prstGeom prst="roundRect">
            <a:avLst/>
          </a:prstGeom>
          <a:solidFill>
            <a:srgbClr val="24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ONE_headline"/>
          <p:cNvSpPr txBox="1"/>
          <p:nvPr/>
        </p:nvSpPr>
        <p:spPr>
          <a:xfrm>
            <a:off x="1371600" y="514350"/>
            <a:ext cx="8686800" cy="525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ontserrat"/>
              </a:rPr>
              <a:t>Fall Flooring Event in Langley</a:t>
            </a:r>
          </a:p>
        </p:txBody>
      </p:sp>
      <p:sp>
        <p:nvSpPr>
          <p:cNvPr id="6" name="ZONE_fineprint"/>
          <p:cNvSpPr txBox="1"/>
          <p:nvPr/>
        </p:nvSpPr>
        <p:spPr>
          <a:xfrm>
            <a:off x="1371600" y="7388013"/>
            <a:ext cx="8686800" cy="155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66" b="0">
                <a:solidFill>
                  <a:srgbClr val="63666A"/>
                </a:solidFill>
                <a:latin typeface="Montserrat"/>
              </a:rPr>
              <a:t>Nufloors Langley | Langley, BC | Ends 2026-11-30</a:t>
            </a:r>
          </a:p>
        </p:txBody>
      </p:sp>
      <p:sp>
        <p:nvSpPr>
          <p:cNvPr id="7" name="ZONE_cta"/>
          <p:cNvSpPr txBox="1"/>
          <p:nvPr/>
        </p:nvSpPr>
        <p:spPr>
          <a:xfrm>
            <a:off x="1371600" y="6467580"/>
            <a:ext cx="8686800" cy="6632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ontserrat"/>
              </a:rPr>
              <a:t>Visit Nufloors Langley for details and in-store selection.</a:t>
            </a:r>
          </a:p>
        </p:txBody>
      </p:sp>
      <p:sp>
        <p:nvSpPr>
          <p:cNvPr id="8" name="ZONE_subheadline"/>
          <p:cNvSpPr txBox="1"/>
          <p:nvPr/>
        </p:nvSpPr>
        <p:spPr>
          <a:xfrm>
            <a:off x="1371600" y="3187805"/>
            <a:ext cx="8686800" cy="5063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33" b="0">
                <a:solidFill>
                  <a:srgbClr val="24135F"/>
                </a:solidFill>
                <a:latin typeface="Montserrat"/>
              </a:rPr>
              <a:t>Shop select flooring options for a practical update that suits your home and</a:t>
            </a:r>
          </a:p>
          <a:p>
            <a:pPr algn="l"/>
            <a:r>
              <a:rPr sz="1733" b="0">
                <a:solidFill>
                  <a:srgbClr val="24135F"/>
                </a:solidFill>
                <a:latin typeface="Montserrat"/>
              </a:rPr>
              <a:t>budget.</a:t>
            </a:r>
          </a:p>
        </p:txBody>
      </p:sp>
      <p:sp>
        <p:nvSpPr>
          <p:cNvPr id="9" name="ZONE_product_0_name"/>
          <p:cNvSpPr txBox="1"/>
          <p:nvPr/>
        </p:nvSpPr>
        <p:spPr>
          <a:xfrm>
            <a:off x="1371600" y="4079875"/>
            <a:ext cx="5385816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33" b="1">
                <a:solidFill>
                  <a:srgbClr val="24135F"/>
                </a:solidFill>
                <a:latin typeface="Montserrat"/>
              </a:rPr>
              <a:t>Trailwood</a:t>
            </a:r>
          </a:p>
        </p:txBody>
      </p:sp>
      <p:sp>
        <p:nvSpPr>
          <p:cNvPr id="10" name="ZONE_product_0_price"/>
          <p:cNvSpPr txBox="1"/>
          <p:nvPr/>
        </p:nvSpPr>
        <p:spPr>
          <a:xfrm>
            <a:off x="6931152" y="4079875"/>
            <a:ext cx="312724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33" b="1">
                <a:solidFill>
                  <a:srgbClr val="24135F"/>
                </a:solidFill>
                <a:latin typeface="Montserrat"/>
              </a:rPr>
              <a:t>$3.69/sq. ft.</a:t>
            </a:r>
          </a:p>
        </p:txBody>
      </p:sp>
      <p:sp>
        <p:nvSpPr>
          <p:cNvPr id="11" name="ZONE_product_1_name"/>
          <p:cNvSpPr txBox="1"/>
          <p:nvPr/>
        </p:nvSpPr>
        <p:spPr>
          <a:xfrm>
            <a:off x="1371600" y="4445634"/>
            <a:ext cx="5385816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33" b="1">
                <a:solidFill>
                  <a:srgbClr val="24135F"/>
                </a:solidFill>
                <a:latin typeface="Montserrat"/>
              </a:rPr>
              <a:t>Colossus</a:t>
            </a:r>
          </a:p>
        </p:txBody>
      </p:sp>
      <p:sp>
        <p:nvSpPr>
          <p:cNvPr id="12" name="ZONE_product_1_price"/>
          <p:cNvSpPr txBox="1"/>
          <p:nvPr/>
        </p:nvSpPr>
        <p:spPr>
          <a:xfrm>
            <a:off x="6931152" y="4445634"/>
            <a:ext cx="312724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33" b="1">
                <a:solidFill>
                  <a:srgbClr val="24135F"/>
                </a:solidFill>
                <a:latin typeface="Montserrat"/>
              </a:rPr>
              <a:t>$4.49/sq. ft.</a:t>
            </a:r>
          </a:p>
        </p:txBody>
      </p:sp>
      <p:sp>
        <p:nvSpPr>
          <p:cNvPr id="13" name="ZONE_product_2_name"/>
          <p:cNvSpPr txBox="1"/>
          <p:nvPr/>
        </p:nvSpPr>
        <p:spPr>
          <a:xfrm>
            <a:off x="1371600" y="4811395"/>
            <a:ext cx="5385816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33" b="1">
                <a:solidFill>
                  <a:srgbClr val="24135F"/>
                </a:solidFill>
                <a:latin typeface="Montserrat"/>
              </a:rPr>
              <a:t>Provincial Plank</a:t>
            </a:r>
          </a:p>
        </p:txBody>
      </p:sp>
      <p:sp>
        <p:nvSpPr>
          <p:cNvPr id="14" name="ZONE_product_2_price"/>
          <p:cNvSpPr txBox="1"/>
          <p:nvPr/>
        </p:nvSpPr>
        <p:spPr>
          <a:xfrm>
            <a:off x="6931152" y="4811395"/>
            <a:ext cx="312724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33" b="1">
                <a:solidFill>
                  <a:srgbClr val="24135F"/>
                </a:solidFill>
                <a:latin typeface="Montserrat"/>
              </a:rPr>
              <a:t>$4.49/sq. 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